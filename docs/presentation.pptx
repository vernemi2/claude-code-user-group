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The Developer Who Wasn't There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E86C00"/>
                </a:solidFill>
                <a:latin typeface="Calibri"/>
              </a:defRPr>
            </a:pPr>
            <a:r>
              <a:t>Autonomous Salesforce Development with Claude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657600"/>
            <a:ext cx="3657600" cy="36576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CCCCCC"/>
                </a:solidFill>
                <a:latin typeface="Calibri"/>
              </a:defRPr>
            </a:pPr>
            <a:r>
              <a:t>Michal Verner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Calibri"/>
              </a:defRPr>
            </a:pPr>
            <a:r>
              <a:t>What if you could describe a feature...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86C00"/>
                </a:solidFill>
                <a:latin typeface="Calibri"/>
              </a:defRPr>
            </a:pPr>
            <a:r>
              <a:t>...and have it built, tested, deployed, and validated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233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Calibri"/>
              </a:defRPr>
            </a:pPr>
            <a:r>
              <a:t>without writing a single line of code?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You Decide: Pick a Feature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888899"/>
                </a:solidFill>
                <a:latin typeface="Calibri"/>
              </a:defRPr>
            </a:pPr>
            <a:r>
              <a:t>The AI agent will build your choice live — from user story to production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3566160" cy="411480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A1E0"/>
                </a:solidFill>
                <a:latin typeface="Calibri"/>
              </a:defRPr>
            </a:pPr>
            <a: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965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Invoice Aging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99"/>
                </a:solidFill>
                <a:latin typeface="Calibri"/>
              </a:defRPr>
            </a:pPr>
            <a:r>
              <a:t>As an account manager, I want to see an aging breakdown of unpaid invoices (Current, 1-30, 31-60, 61-90, 90+ days overdue) on the Account page, so I can prioritize collections and assess credit risk at a glance.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828800"/>
            <a:ext cx="3566160" cy="411480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9202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ECC71"/>
                </a:solidFill>
                <a:latin typeface="Calibri"/>
              </a:defRPr>
            </a:pPr>
            <a:r>
              <a:t>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1965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Invoice Line Items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74320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99"/>
                </a:solidFill>
                <a:latin typeface="Calibri"/>
              </a:defRPr>
            </a:pPr>
            <a:r>
              <a:t>As a sales rep, I want to add line items to an invoice with product, quantity, and unit price, and have the invoice amount auto-calculate from the total, so that invoices are always accurate.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828800"/>
            <a:ext cx="3566160" cy="411480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19202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9B59B6"/>
                </a:solidFill>
                <a:latin typeface="Calibri"/>
              </a:defRPr>
            </a:pPr>
            <a: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1965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Invoice Dashboard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74320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99"/>
                </a:solidFill>
                <a:latin typeface="Calibri"/>
              </a:defRPr>
            </a:pPr>
            <a:r>
              <a:t>As an account manager, I want to see a dashboard on the Account page showing invoice counts by status, total outstanding amount, and recent invoices, so I can assess a customer's financial health at a glance.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2ECC71"/>
                </a:solidFill>
                <a:latin typeface="Consolas"/>
              </a:defRPr>
            </a:pPr>
            <a:r>
              <a:t>/story-to-feature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888899"/>
                </a:solidFill>
                <a:latin typeface="Calibri"/>
              </a:defRPr>
            </a:pPr>
            <a:r>
              <a:t>One command. Zero intervention. Let's go.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While our developer works...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E86C00"/>
                </a:solidFill>
                <a:latin typeface="Calibri"/>
              </a:defRPr>
            </a:pPr>
            <a:r>
              <a:t>Let me show you how we got here.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37160" cy="54864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   The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888899"/>
                </a:solidFill>
                <a:latin typeface="Calibri"/>
              </a:defRPr>
            </a:pPr>
            <a:r>
              <a:t>   What makes autonomous development possible?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5394960" cy="438912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A1E0"/>
                </a:solidFill>
                <a:latin typeface="Calibri"/>
              </a:defRPr>
            </a:pPr>
            <a:r>
              <a:t>Project Setup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5176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800">
                <a:solidFill>
                  <a:srgbClr val="00A1E0"/>
                </a:solidFill>
                <a:latin typeface="Calibri"/>
              </a:rPr>
              <a:t>▸ </a:t>
            </a:r>
            <a:r>
              <a:rPr sz="1800">
                <a:solidFill>
                  <a:srgbClr val="CCCCCC"/>
                </a:solidFill>
                <a:latin typeface="Calibri"/>
              </a:rPr>
              <a:t>Salesforce DX project (API v66.0)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800">
                <a:solidFill>
                  <a:srgbClr val="00A1E0"/>
                </a:solidFill>
                <a:latin typeface="Calibri"/>
              </a:rPr>
              <a:t>▸ </a:t>
            </a:r>
            <a:r>
              <a:rPr sz="1800">
                <a:solidFill>
                  <a:srgbClr val="CCCCCC"/>
                </a:solidFill>
                <a:latin typeface="Calibri"/>
              </a:rPr>
              <a:t>Developer Edition org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800">
                <a:solidFill>
                  <a:srgbClr val="00A1E0"/>
                </a:solidFill>
                <a:latin typeface="Calibri"/>
              </a:rPr>
              <a:t>▸ </a:t>
            </a:r>
            <a:r>
              <a:rPr sz="1800">
                <a:solidFill>
                  <a:srgbClr val="CCCCCC"/>
                </a:solidFill>
                <a:latin typeface="Calibri"/>
              </a:rPr>
              <a:t>Pre-commit hooks (Husky + lint-staged)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800">
                <a:solidFill>
                  <a:srgbClr val="00A1E0"/>
                </a:solidFill>
                <a:latin typeface="Calibri"/>
              </a:rPr>
              <a:t>▸ </a:t>
            </a:r>
            <a:r>
              <a:rPr sz="1800">
                <a:solidFill>
                  <a:srgbClr val="CCCCCC"/>
                </a:solidFill>
                <a:latin typeface="Calibri"/>
              </a:rPr>
              <a:t>ESLint + Prettier enforced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800">
                <a:solidFill>
                  <a:srgbClr val="00A1E0"/>
                </a:solidFill>
                <a:latin typeface="Calibri"/>
              </a:rPr>
              <a:t>▸ </a:t>
            </a:r>
            <a:r>
              <a:rPr sz="1800">
                <a:solidFill>
                  <a:srgbClr val="CCCCCC"/>
                </a:solidFill>
                <a:latin typeface="Calibri"/>
              </a:rPr>
              <a:t>Jest for LWC unit tests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011680"/>
            <a:ext cx="5394960" cy="438912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945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Calibri"/>
              </a:defRPr>
            </a:pPr>
            <a:r>
              <a:t>Third-Party Libraries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65176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800">
                <a:solidFill>
                  <a:srgbClr val="2ECC71"/>
                </a:solidFill>
                <a:latin typeface="Calibri"/>
              </a:rPr>
              <a:t>▸ </a:t>
            </a:r>
            <a:r>
              <a:rPr sz="1800">
                <a:solidFill>
                  <a:srgbClr val="CCCCCC"/>
                </a:solidFill>
                <a:latin typeface="Calibri"/>
              </a:rPr>
              <a:t>SOQL Lib — fluent query builder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800">
                <a:solidFill>
                  <a:srgbClr val="2ECC71"/>
                </a:solidFill>
                <a:latin typeface="Calibri"/>
              </a:rPr>
              <a:t>▸ </a:t>
            </a:r>
            <a:r>
              <a:rPr sz="1800">
                <a:solidFill>
                  <a:srgbClr val="CCCCCC"/>
                </a:solidFill>
                <a:latin typeface="Calibri"/>
              </a:rPr>
              <a:t>DML Lib — unit of work pattern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800">
                <a:solidFill>
                  <a:srgbClr val="2ECC71"/>
                </a:solidFill>
                <a:latin typeface="Calibri"/>
              </a:rPr>
              <a:t>▸ </a:t>
            </a:r>
            <a:r>
              <a:rPr sz="1800">
                <a:solidFill>
                  <a:srgbClr val="CCCCCC"/>
                </a:solidFill>
                <a:latin typeface="Calibri"/>
              </a:rPr>
              <a:t>TriggerHandler — one trigger per object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800">
                <a:solidFill>
                  <a:srgbClr val="2ECC71"/>
                </a:solidFill>
                <a:latin typeface="Calibri"/>
              </a:rPr>
              <a:t>▸ </a:t>
            </a:r>
            <a:r>
              <a:rPr sz="1800">
                <a:solidFill>
                  <a:srgbClr val="CCCCCC"/>
                </a:solidFill>
                <a:latin typeface="Calibri"/>
              </a:rPr>
              <a:t>UniversalMocker — Apex Stub API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800">
                <a:solidFill>
                  <a:srgbClr val="2ECC71"/>
                </a:solidFill>
                <a:latin typeface="Calibri"/>
              </a:rPr>
              <a:t>▸ </a:t>
            </a:r>
            <a:r>
              <a:rPr sz="1800">
                <a:solidFill>
                  <a:srgbClr val="CCCCCC"/>
                </a:solidFill>
                <a:latin typeface="Calibri"/>
              </a:rPr>
              <a:t>InstanceProvider — dependency injection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37160" cy="54864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   Why Libraries Matter for AI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3474720" cy="475488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A1E0"/>
                </a:solidFill>
                <a:latin typeface="Calibri"/>
              </a:defRPr>
            </a:pPr>
            <a:r>
              <a:t>Consistency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00A1E0"/>
                </a:solidFill>
                <a:latin typeface="Calibri"/>
              </a:rPr>
              <a:t>▸ </a:t>
            </a:r>
            <a:r>
              <a:rPr sz="1600">
                <a:solidFill>
                  <a:srgbClr val="CCCCCC"/>
                </a:solidFill>
                <a:latin typeface="Calibri"/>
              </a:rPr>
              <a:t>Every query uses the same fluent API pattern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00A1E0"/>
                </a:solidFill>
                <a:latin typeface="Calibri"/>
              </a:rPr>
              <a:t>▸ </a:t>
            </a:r>
            <a:r>
              <a:rPr sz="1600">
                <a:solidFill>
                  <a:srgbClr val="CCCCCC"/>
                </a:solidFill>
                <a:latin typeface="Calibri"/>
              </a:rPr>
              <a:t>AI learns ONE pattern, applies it everywhere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00A1E0"/>
                </a:solidFill>
                <a:latin typeface="Calibri"/>
              </a:rPr>
              <a:t>▸ </a:t>
            </a:r>
            <a:r>
              <a:rPr sz="1600">
                <a:solidFill>
                  <a:srgbClr val="CCCCCC"/>
                </a:solidFill>
                <a:latin typeface="Calibri"/>
              </a:rPr>
              <a:t>No variation = fewer bugs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645920"/>
            <a:ext cx="3474720" cy="475488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Calibri"/>
              </a:defRPr>
            </a:pPr>
            <a:r>
              <a:t>Mockability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286000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2ECC71"/>
                </a:solidFill>
                <a:latin typeface="Calibri"/>
              </a:rPr>
              <a:t>▸ </a:t>
            </a:r>
            <a:r>
              <a:rPr sz="1600">
                <a:solidFill>
                  <a:srgbClr val="CCCCCC"/>
                </a:solidFill>
                <a:latin typeface="Calibri"/>
              </a:rPr>
              <a:t>Every dependency can be mocked at the boundary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2ECC71"/>
                </a:solidFill>
                <a:latin typeface="Calibri"/>
              </a:rPr>
              <a:t>▸ </a:t>
            </a:r>
            <a:r>
              <a:rPr sz="1600">
                <a:solidFill>
                  <a:srgbClr val="CCCCCC"/>
                </a:solidFill>
                <a:latin typeface="Calibri"/>
              </a:rPr>
              <a:t>Zero database hits in tests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2ECC71"/>
                </a:solidFill>
                <a:latin typeface="Calibri"/>
              </a:rPr>
              <a:t>▸ </a:t>
            </a:r>
            <a:r>
              <a:rPr sz="1600">
                <a:solidFill>
                  <a:srgbClr val="CCCCCC"/>
                </a:solidFill>
                <a:latin typeface="Calibri"/>
              </a:rPr>
              <a:t>AI can write tests without org state dependencies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45920"/>
            <a:ext cx="3474720" cy="475488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18288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6C00"/>
                </a:solidFill>
                <a:latin typeface="Calibri"/>
              </a:defRPr>
            </a:pPr>
            <a:r>
              <a:t>Guard Rails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286000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E86C00"/>
                </a:solidFill>
                <a:latin typeface="Calibri"/>
              </a:rPr>
              <a:t>▸ </a:t>
            </a:r>
            <a:r>
              <a:rPr sz="1600">
                <a:solidFill>
                  <a:srgbClr val="CCCCCC"/>
                </a:solidFill>
                <a:latin typeface="Calibri"/>
              </a:rPr>
              <a:t>Hard rules the AI can follow: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E86C00"/>
                </a:solidFill>
                <a:latin typeface="Calibri"/>
              </a:rPr>
              <a:t>▸ </a:t>
            </a:r>
            <a:r>
              <a:rPr sz="1600">
                <a:solidFill>
                  <a:srgbClr val="CCCCCC"/>
                </a:solidFill>
                <a:latin typeface="Calibri"/>
              </a:rPr>
              <a:t>"Never write raw SOQL"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E86C00"/>
                </a:solidFill>
                <a:latin typeface="Calibri"/>
              </a:rPr>
              <a:t>▸ </a:t>
            </a:r>
            <a:r>
              <a:rPr sz="1600">
                <a:solidFill>
                  <a:srgbClr val="CCCCCC"/>
                </a:solidFill>
                <a:latin typeface="Calibri"/>
              </a:rPr>
              <a:t>"Never use raw DML"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E86C00"/>
                </a:solidFill>
                <a:latin typeface="Calibri"/>
              </a:rPr>
              <a:t>▸ </a:t>
            </a:r>
            <a:r>
              <a:rPr sz="1600">
                <a:solidFill>
                  <a:srgbClr val="CCCCCC"/>
                </a:solidFill>
                <a:latin typeface="Calibri"/>
              </a:rPr>
              <a:t>Libraries enforce patterns that prevent bad code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37160" cy="54864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   CLAUDE.md — The Instruction Manual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888899"/>
                </a:solidFill>
                <a:latin typeface="Calibri"/>
              </a:defRPr>
            </a:pPr>
            <a:r>
              <a:t>   Every convention, pattern, and rule — in one file the agent always reads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3474720" cy="210312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A1E0"/>
                </a:solidFill>
                <a:latin typeface="Calibri"/>
              </a:defRPr>
            </a:pPr>
            <a:r>
              <a:t>SF CLI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Deploy, test, open org —</a:t>
            </a:r>
            <a:br/>
            <a:r>
              <a:t>ready-made commands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39" y="1828800"/>
            <a:ext cx="3474720" cy="210312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59" y="20116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CC71"/>
                </a:solidFill>
                <a:latin typeface="Calibri"/>
              </a:defRPr>
            </a:pPr>
            <a:r>
              <a:t>Trigger Pattern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59" y="256032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TriggerHandler base class,</a:t>
            </a:r>
            <a:br/>
            <a:r>
              <a:t>one trigger per object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8" y="1828800"/>
            <a:ext cx="3474720" cy="210312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8" y="20116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  <a:latin typeface="Calibri"/>
              </a:defRPr>
            </a:pPr>
            <a:r>
              <a:t>Service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8" y="256032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Instance-based, resolved</a:t>
            </a:r>
            <a:br/>
            <a:r>
              <a:t>via InstanceProvider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06240"/>
            <a:ext cx="3474720" cy="210312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389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9B59B6"/>
                </a:solidFill>
                <a:latin typeface="Calibri"/>
              </a:defRPr>
            </a:pPr>
            <a:r>
              <a:t>SOQL / DML Libs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3776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Fluent API for all queries</a:t>
            </a:r>
            <a:br/>
            <a:r>
              <a:t>and DML operations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39" y="4206240"/>
            <a:ext cx="3474720" cy="210312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59" y="4389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74C3C"/>
                </a:solidFill>
                <a:latin typeface="Calibri"/>
              </a:defRPr>
            </a:pPr>
            <a:r>
              <a:t>Test Conventions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59" y="493776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Mock everything, 95%</a:t>
            </a:r>
            <a:br/>
            <a:r>
              <a:t>coverage, no DB hits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78" y="4206240"/>
            <a:ext cx="3474720" cy="210312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8" y="4389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BCD4"/>
                </a:solidFill>
                <a:latin typeface="Calibri"/>
              </a:defRPr>
            </a:pPr>
            <a:r>
              <a:t>Hard Rules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8" y="493776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No SOQL in loops, bulk-safe,</a:t>
            </a:r>
            <a:br/>
            <a:r>
              <a:t>no hardcoded IDs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37160" cy="54864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   CLAUDE.md — Teaching by Example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5486400" cy="4937760"/>
          </a:xfrm>
          <a:prstGeom prst="roundRect">
            <a:avLst/>
          </a:prstGeom>
          <a:solidFill>
            <a:srgbClr val="1E1E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99"/>
                </a:solidFill>
                <a:latin typeface="Calibri"/>
              </a:defRPr>
            </a:pPr>
            <a:r>
              <a:t>Selector Pattern (from CLAUDE.md)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ECC71"/>
                </a:solidFill>
                <a:latin typeface="Consolas"/>
              </a:defRPr>
            </a:pPr>
            <a:r>
              <a:t>public inherited sharing class SOQL_Account</a:t>
            </a:r>
            <a:br/>
            <a:r>
              <a:t>    extends SOQL implements SOQL.Selector {</a:t>
            </a:r>
            <a:br/>
            <a:br/>
            <a:r>
              <a:t>  public static SOQL_Account query() {</a:t>
            </a:r>
            <a:br/>
            <a:r>
              <a:t>    return new SOQL_Account();</a:t>
            </a:r>
            <a:br/>
            <a:r>
              <a:t>  }</a:t>
            </a:r>
            <a:br/>
            <a:br/>
            <a:r>
              <a:t>  private SOQL_Account() {</a:t>
            </a:r>
            <a:br/>
            <a:r>
              <a:t>    super(Account.SObjectType);</a:t>
            </a:r>
            <a:br/>
            <a:r>
              <a:t>    with(Account.Id, Account.Name);</a:t>
            </a:r>
            <a:br/>
            <a:r>
              <a:t>  }</a:t>
            </a:r>
            <a:br/>
            <a:br/>
            <a:r>
              <a:t>  public SOQL_Account byIndustry(String v) {</a:t>
            </a:r>
            <a:br/>
            <a:r>
              <a:t>    whereAre(</a:t>
            </a:r>
            <a:br/>
            <a:r>
              <a:t>      Filter.with(Account.Industry).equal(v));</a:t>
            </a:r>
            <a:br/>
            <a:r>
              <a:t>    return this;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394960" cy="493776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6459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6C00"/>
                </a:solidFill>
                <a:latin typeface="Calibri"/>
              </a:defRPr>
            </a:pPr>
            <a:r>
              <a:t>What the Agent Learns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10312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E86C00"/>
                </a:solidFill>
                <a:latin typeface="Calibri"/>
              </a:rPr>
              <a:t>▸ </a:t>
            </a:r>
            <a:r>
              <a:rPr sz="1700">
                <a:solidFill>
                  <a:srgbClr val="CCCCCC"/>
                </a:solidFill>
                <a:latin typeface="Calibri"/>
              </a:rPr>
              <a:t>Extend SOQL, implement SOQL.Selector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E86C00"/>
                </a:solidFill>
                <a:latin typeface="Calibri"/>
              </a:rPr>
              <a:t>▸ </a:t>
            </a:r>
            <a:r>
              <a:rPr sz="1700">
                <a:solidFill>
                  <a:srgbClr val="CCCCCC"/>
                </a:solidFill>
                <a:latin typeface="Calibri"/>
              </a:rPr>
              <a:t>Static query() factory method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E86C00"/>
                </a:solidFill>
                <a:latin typeface="Calibri"/>
              </a:rPr>
              <a:t>▸ </a:t>
            </a:r>
            <a:r>
              <a:rPr sz="1700">
                <a:solidFill>
                  <a:srgbClr val="CCCCCC"/>
                </a:solidFill>
                <a:latin typeface="Calibri"/>
              </a:rPr>
              <a:t>Default fields in constructor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E86C00"/>
                </a:solidFill>
                <a:latin typeface="Calibri"/>
              </a:rPr>
              <a:t>▸ </a:t>
            </a:r>
            <a:r>
              <a:rPr sz="1700">
                <a:solidFill>
                  <a:srgbClr val="CCCCCC"/>
                </a:solidFill>
                <a:latin typeface="Calibri"/>
              </a:rPr>
              <a:t>Chainable filter methods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E86C00"/>
                </a:solidFill>
                <a:latin typeface="Calibri"/>
              </a:rPr>
              <a:t>▸ </a:t>
            </a:r>
            <a:r>
              <a:rPr sz="1700">
                <a:solidFill>
                  <a:srgbClr val="CCCCCC"/>
                </a:solidFill>
                <a:latin typeface="Calibri"/>
              </a:rPr>
              <a:t>Return this for fluency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E86C00"/>
                </a:solidFill>
                <a:latin typeface="Calibri"/>
              </a:rPr>
              <a:t>▸ </a:t>
            </a:r>
            <a:r>
              <a:rPr sz="1700">
                <a:solidFill>
                  <a:srgbClr val="CCCCCC"/>
                </a:solidFill>
                <a:latin typeface="Calibri"/>
              </a:rPr>
              <a:t>One example = every selector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E86C00"/>
                </a:solidFill>
                <a:latin typeface="Calibri"/>
              </a:rPr>
              <a:t>▸ </a:t>
            </a:r>
            <a:r>
              <a:rPr sz="1700">
                <a:solidFill>
                  <a:srgbClr val="CCCCCC"/>
                </a:solidFill>
                <a:latin typeface="Calibri"/>
              </a:rPr>
              <a:t>the agent writes follows this pattern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37160" cy="5486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   The Autonomous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888899"/>
                </a:solidFill>
                <a:latin typeface="Calibri"/>
              </a:defRPr>
            </a:pPr>
            <a:r>
              <a:t>   /story-to-feature — six phases, zero intervention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3474720" cy="109728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1828800"/>
            <a:ext cx="548640" cy="548640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Grill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1945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99"/>
                </a:solidFill>
                <a:latin typeface="Calibri"/>
              </a:defRPr>
            </a:pPr>
            <a:r>
              <a:t>Stress-test the story</a:t>
            </a:r>
            <a:br/>
            <a:r>
              <a:t>for gaps &amp; edge cases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39" y="1645920"/>
            <a:ext cx="3474720" cy="109728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39" y="1828800"/>
            <a:ext cx="548640" cy="548640"/>
          </a:xfrm>
          <a:prstGeom prst="ellipse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39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Architect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39" y="21945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99"/>
                </a:solidFill>
                <a:latin typeface="Calibri"/>
              </a:defRPr>
            </a:pPr>
            <a:r>
              <a:t>Design data model</a:t>
            </a:r>
            <a:br/>
            <a:r>
              <a:t>and plan all artifacts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8" y="1645920"/>
            <a:ext cx="3474720" cy="109728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183878" y="1828800"/>
            <a:ext cx="548640" cy="54864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78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Implement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78" y="21945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99"/>
                </a:solidFill>
                <a:latin typeface="Calibri"/>
              </a:defRPr>
            </a:pPr>
            <a:r>
              <a:t>Write Apex, LWC,</a:t>
            </a:r>
            <a:br/>
            <a:r>
              <a:t>metadata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206240"/>
            <a:ext cx="3474720" cy="109728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85800" y="4389120"/>
            <a:ext cx="548640" cy="548640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43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754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99"/>
                </a:solidFill>
                <a:latin typeface="Calibri"/>
              </a:defRPr>
            </a:pPr>
            <a:r>
              <a:t>Deploy, run, self-heal</a:t>
            </a:r>
            <a:br/>
            <a:r>
              <a:t>(max 3 iterations)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06239" y="4206240"/>
            <a:ext cx="3474720" cy="109728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434839" y="4389120"/>
            <a:ext cx="548640" cy="548640"/>
          </a:xfrm>
          <a:prstGeom prst="ellipse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39" y="4343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Validate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39" y="4754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99"/>
                </a:solidFill>
                <a:latin typeface="Calibri"/>
              </a:defRPr>
            </a:pPr>
            <a:r>
              <a:t>Browser automation</a:t>
            </a:r>
            <a:br/>
            <a:r>
              <a:t>via Playwright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55278" y="4206240"/>
            <a:ext cx="3474720" cy="109728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83878" y="4389120"/>
            <a:ext cx="548640" cy="54864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78" y="4343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Ship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78" y="4754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99"/>
                </a:solidFill>
                <a:latin typeface="Calibri"/>
              </a:defRPr>
            </a:pPr>
            <a:r>
              <a:t>Review, commit,</a:t>
            </a:r>
            <a:br/>
            <a:r>
              <a:t>push, open PR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37160" cy="548640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   Skills — Reusable Agent 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888899"/>
                </a:solidFill>
                <a:latin typeface="Calibri"/>
              </a:defRPr>
            </a:pPr>
            <a:r>
              <a:t>   Each skill is a prompt template that Claude Code can invoke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37360"/>
            <a:ext cx="11247120" cy="100584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74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86C00"/>
                </a:solidFill>
                <a:latin typeface="Consolas"/>
              </a:defRPr>
            </a:pPr>
            <a:r>
              <a:t>/story-to-feature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Orchestrates all skills below in sequence — one command, full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017520"/>
            <a:ext cx="3474720" cy="164592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BCD4"/>
                </a:solidFill>
                <a:latin typeface="Consolas"/>
              </a:defRPr>
            </a:pPr>
            <a:r>
              <a:t>/grill-me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4904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Self-grills the story</a:t>
            </a:r>
            <a:br/>
            <a:r>
              <a:t>for gaps &amp; edge cases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39" y="3017520"/>
            <a:ext cx="3474720" cy="164592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59" y="32004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A1E0"/>
                </a:solidFill>
                <a:latin typeface="Consolas"/>
              </a:defRPr>
            </a:pPr>
            <a:r>
              <a:t>/architect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59" y="374904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Designs the solution —</a:t>
            </a:r>
            <a:br/>
            <a:r>
              <a:t>data model, layers, plan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8" y="3017520"/>
            <a:ext cx="3474720" cy="164592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32004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CC71"/>
                </a:solidFill>
                <a:latin typeface="Consolas"/>
              </a:defRPr>
            </a:pPr>
            <a:r>
              <a:t>/implement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374904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Writes all code following</a:t>
            </a:r>
            <a:br/>
            <a:r>
              <a:t>CLAUDE.md conventions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846320"/>
            <a:ext cx="3474720" cy="164592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0292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  <a:latin typeface="Consolas"/>
              </a:defRPr>
            </a:pPr>
            <a:r>
              <a:t>/test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57784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Writes + runs tests,</a:t>
            </a:r>
            <a:br/>
            <a:r>
              <a:t>self-heals on failure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39" y="4846320"/>
            <a:ext cx="3474720" cy="164592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59" y="50292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9B59B6"/>
                </a:solidFill>
                <a:latin typeface="Consolas"/>
              </a:defRPr>
            </a:pPr>
            <a:r>
              <a:t>/validate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59" y="557784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Browser testing via</a:t>
            </a:r>
            <a:br/>
            <a:r>
              <a:t>Playwright automation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8" y="4846320"/>
            <a:ext cx="3474720" cy="164592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8" y="50292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74C3C"/>
                </a:solidFill>
                <a:latin typeface="Consolas"/>
              </a:defRPr>
            </a:pPr>
            <a:r>
              <a:t>/review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8" y="557784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Code review against</a:t>
            </a:r>
            <a:br/>
            <a:r>
              <a:t>best practices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37160" cy="54864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   Self-Healing — The Secret Sauce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5486400" cy="493776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  <a:latin typeface="Calibri"/>
              </a:defRPr>
            </a:pPr>
            <a:r>
              <a:t>Deploy → Test → Fail → Fix → Repeat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E86C00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✖  Deploy fails: "Method does not exist: mockId"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E86C00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✔  Agent reads error, finds correct API: .identifier()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E86C00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/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E86C00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✖  Apex test fails: AuraHandledException message quirk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E86C00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✔  Agent adjusts assertion to match SF behavior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E86C00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/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E86C00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✖  Jest fails: lwc:else not rendering in test env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E86C00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✔  Agent refactors to explicit lwc:if with computed getters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394960" cy="493776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6459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CC71"/>
                </a:solidFill>
                <a:latin typeface="Calibri"/>
              </a:defRPr>
            </a:pPr>
            <a:r>
              <a:t>From Today's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37744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2ECC71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Deploy attempts: 2 (1 failed, 1 passed)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2ECC71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Apex test runs: 2 (1 failure fixed)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2ECC71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Jest test runs: 2 (3 failures fixed)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2ECC71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Total self-heal cycles: 3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2ECC71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/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2ECC71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Final result: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2ECC71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  All Apex tests passing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2ECC71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  All 12 Jest tests passing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2ECC71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  Browser validation successful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2ECC71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  31 files, 1,784 lines of code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37160" cy="5486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   Browser Validation via Playwright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47120" cy="493776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A1E0"/>
                </a:solidFill>
                <a:latin typeface="Calibri"/>
              </a:defRPr>
            </a:pPr>
            <a:r>
              <a:t>1. Login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7373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Calibri"/>
              </a:defRPr>
            </a:pPr>
            <a:r>
              <a:t>Gets org URL with session token via SF CLI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Calibri"/>
              </a:defRPr>
            </a:pPr>
            <a:r>
              <a:t>2. Create Test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4688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Calibri"/>
              </a:defRPr>
            </a:pPr>
            <a:r>
              <a:t>Creates an Invoice record (Status: Sent, Amount: $1,000)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004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6C00"/>
                </a:solidFill>
                <a:latin typeface="Calibri"/>
              </a:defRPr>
            </a:pPr>
            <a:r>
              <a:t>3. Record Payment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32004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Calibri"/>
              </a:defRPr>
            </a:pPr>
            <a:r>
              <a:t>Fills form: $600, Credit Card, TXN-12345 → clicks Record Payment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9B59B6"/>
                </a:solidFill>
                <a:latin typeface="Calibri"/>
              </a:defRPr>
            </a:pPr>
            <a:r>
              <a:t>4. Verify Update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9319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Calibri"/>
              </a:defRPr>
            </a:pPr>
            <a:r>
              <a:t>Confirms remaining balance updated to $400, payment in history 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6634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74C3C"/>
                </a:solidFill>
                <a:latin typeface="Calibri"/>
              </a:defRPr>
            </a:pPr>
            <a:r>
              <a:t>5. Complete Payment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46634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Calibri"/>
              </a:defRPr>
            </a:pPr>
            <a:r>
              <a:t>Records $400 more → verifies "fully paid" banner + Status: Paid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3949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BCD4"/>
                </a:solidFill>
                <a:latin typeface="Calibri"/>
              </a:defRPr>
            </a:pPr>
            <a:r>
              <a:t>6. Screenshot 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53949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Calibri"/>
              </a:defRPr>
            </a:pPr>
            <a:r>
              <a:t>Captures screenshots at each step as proof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Let's Check on Our Developer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2ECC71"/>
                </a:solidFill>
                <a:latin typeface="Calibri"/>
              </a:defRPr>
            </a:pPr>
            <a:r>
              <a:t>👉  Switch to terminal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37160" cy="54864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   Key Takeaways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47120" cy="86868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A1E0"/>
                </a:solidFill>
                <a:latin typeface="Calibri"/>
              </a:defRPr>
            </a:pPr>
            <a:r>
              <a:t>Conventions &gt; Instructions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CCCCC"/>
                </a:solidFill>
                <a:latin typeface="Calibri"/>
              </a:defRPr>
            </a:pPr>
            <a:r>
              <a:t>A well-structured CLAUDE.md with examples teaches better than verbose rules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68880"/>
            <a:ext cx="11247120" cy="86868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603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CC71"/>
                </a:solidFill>
                <a:latin typeface="Calibri"/>
              </a:defRPr>
            </a:pPr>
            <a:r>
              <a:t>Libraries Are Force Multipliers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CCCCC"/>
                </a:solidFill>
                <a:latin typeface="Calibri"/>
              </a:defRPr>
            </a:pPr>
            <a:r>
              <a:t>Consistent APIs mean the agent learns one pattern and applies it everywhere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474720"/>
            <a:ext cx="11247120" cy="86868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5661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  <a:latin typeface="Calibri"/>
              </a:defRPr>
            </a:pPr>
            <a:r>
              <a:t>Mocking Is Non-Negotiable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31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CCCCC"/>
                </a:solidFill>
                <a:latin typeface="Calibri"/>
              </a:defRPr>
            </a:pPr>
            <a:r>
              <a:t>Full mockability enables autonomous testing without org dependencies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480560"/>
            <a:ext cx="11247120" cy="86868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5720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9B59B6"/>
                </a:solidFill>
                <a:latin typeface="Calibri"/>
              </a:defRPr>
            </a:pPr>
            <a:r>
              <a:t>Self-Healing Makes It Practical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37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CCCCC"/>
                </a:solidFill>
                <a:latin typeface="Calibri"/>
              </a:defRPr>
            </a:pPr>
            <a:r>
              <a:t>Expect failures — the agent's ability to read errors and fix is the real power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486400"/>
            <a:ext cx="11247120" cy="86868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5778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74C3C"/>
                </a:solidFill>
                <a:latin typeface="Calibri"/>
              </a:defRPr>
            </a:pPr>
            <a:r>
              <a:t>Skills Compose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CCCCC"/>
                </a:solidFill>
                <a:latin typeface="Calibri"/>
              </a:defRPr>
            </a:pPr>
            <a:r>
              <a:t>Small, focused skills chain into powerful pipelines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3200400"/>
            <a:ext cx="3657600" cy="36576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E86C00"/>
                </a:solidFill>
                <a:latin typeface="Consolas"/>
              </a:defRPr>
            </a:pPr>
            <a:r>
              <a:t>github.com/vernemi2/claude-code-user-group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CCCCC"/>
                </a:solidFill>
                <a:latin typeface="Calibri"/>
              </a:defRPr>
            </a:pPr>
            <a:r>
              <a:t>Michal Verner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